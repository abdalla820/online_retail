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ading Now 71-78 Bold" charset="1" panose="00000000000000000000"/>
      <p:regular r:id="rId16"/>
    </p:embeddedFont>
    <p:embeddedFont>
      <p:font typeface="Open Sauce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Canva Sans Italics" charset="1" panose="020B0503030501040103"/>
      <p:regular r:id="rId19"/>
    </p:embeddedFont>
    <p:embeddedFont>
      <p:font typeface="Canva Sans Bold" charset="1" panose="020B0803030501040103"/>
      <p:regular r:id="rId20"/>
    </p:embeddedFont>
    <p:embeddedFont>
      <p:font typeface="Canva Sans Bold Italics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linkedin.com/in/abdalla-mohamed-farouk/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https://www.linkedin.com/in/abdalla-mohamed-farouk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.png" Type="http://schemas.openxmlformats.org/officeDocument/2006/relationships/image"/><Relationship Id="rId7" Target="https://www.linkedin.com/in/abdalla-mohamed-farouk/" TargetMode="External" Type="http://schemas.openxmlformats.org/officeDocument/2006/relationships/hyperlink"/><Relationship Id="rId8" Target="https://www.linkedin.com/in/abdalla-mohamed-farouk/" TargetMode="External" Type="http://schemas.openxmlformats.org/officeDocument/2006/relationships/hyperlink"/><Relationship Id="rId9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50476" y="3735488"/>
            <a:ext cx="5401254" cy="2315752"/>
            <a:chOff x="0" y="0"/>
            <a:chExt cx="1422552" cy="6099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553" cy="609910"/>
            </a:xfrm>
            <a:custGeom>
              <a:avLst/>
              <a:gdLst/>
              <a:ahLst/>
              <a:cxnLst/>
              <a:rect r="r" b="b" t="t" l="l"/>
              <a:pathLst>
                <a:path h="609910" w="1422553">
                  <a:moveTo>
                    <a:pt x="28667" y="0"/>
                  </a:moveTo>
                  <a:lnTo>
                    <a:pt x="1393885" y="0"/>
                  </a:lnTo>
                  <a:cubicBezTo>
                    <a:pt x="1401488" y="0"/>
                    <a:pt x="1408780" y="3020"/>
                    <a:pt x="1414156" y="8396"/>
                  </a:cubicBezTo>
                  <a:cubicBezTo>
                    <a:pt x="1419532" y="13773"/>
                    <a:pt x="1422553" y="21064"/>
                    <a:pt x="1422553" y="28667"/>
                  </a:cubicBezTo>
                  <a:lnTo>
                    <a:pt x="1422553" y="581243"/>
                  </a:lnTo>
                  <a:cubicBezTo>
                    <a:pt x="1422553" y="597075"/>
                    <a:pt x="1409718" y="609910"/>
                    <a:pt x="1393885" y="609910"/>
                  </a:cubicBezTo>
                  <a:lnTo>
                    <a:pt x="28667" y="609910"/>
                  </a:lnTo>
                  <a:cubicBezTo>
                    <a:pt x="21064" y="609910"/>
                    <a:pt x="13773" y="606890"/>
                    <a:pt x="8396" y="601514"/>
                  </a:cubicBezTo>
                  <a:cubicBezTo>
                    <a:pt x="3020" y="596137"/>
                    <a:pt x="0" y="588846"/>
                    <a:pt x="0" y="581243"/>
                  </a:cubicBezTo>
                  <a:lnTo>
                    <a:pt x="0" y="28667"/>
                  </a:lnTo>
                  <a:cubicBezTo>
                    <a:pt x="0" y="12835"/>
                    <a:pt x="12835" y="0"/>
                    <a:pt x="28667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2552" cy="648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03046" y="2137075"/>
            <a:ext cx="3366044" cy="2756289"/>
            <a:chOff x="0" y="0"/>
            <a:chExt cx="886530" cy="725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6530" cy="725936"/>
            </a:xfrm>
            <a:custGeom>
              <a:avLst/>
              <a:gdLst/>
              <a:ahLst/>
              <a:cxnLst/>
              <a:rect r="r" b="b" t="t" l="l"/>
              <a:pathLst>
                <a:path h="725936" w="886530">
                  <a:moveTo>
                    <a:pt x="46000" y="0"/>
                  </a:moveTo>
                  <a:lnTo>
                    <a:pt x="840530" y="0"/>
                  </a:lnTo>
                  <a:cubicBezTo>
                    <a:pt x="865935" y="0"/>
                    <a:pt x="886530" y="20595"/>
                    <a:pt x="886530" y="46000"/>
                  </a:cubicBezTo>
                  <a:lnTo>
                    <a:pt x="886530" y="679936"/>
                  </a:lnTo>
                  <a:cubicBezTo>
                    <a:pt x="886530" y="692136"/>
                    <a:pt x="881684" y="703836"/>
                    <a:pt x="873057" y="712463"/>
                  </a:cubicBezTo>
                  <a:cubicBezTo>
                    <a:pt x="864430" y="721090"/>
                    <a:pt x="852730" y="725936"/>
                    <a:pt x="840530" y="725936"/>
                  </a:cubicBezTo>
                  <a:lnTo>
                    <a:pt x="46000" y="725936"/>
                  </a:lnTo>
                  <a:cubicBezTo>
                    <a:pt x="33800" y="725936"/>
                    <a:pt x="22100" y="721090"/>
                    <a:pt x="13473" y="712463"/>
                  </a:cubicBezTo>
                  <a:cubicBezTo>
                    <a:pt x="4846" y="703836"/>
                    <a:pt x="0" y="692136"/>
                    <a:pt x="0" y="679936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6530" cy="764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7657" y="8018790"/>
            <a:ext cx="1208411" cy="2623231"/>
            <a:chOff x="0" y="0"/>
            <a:chExt cx="318265" cy="6908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8265" cy="690892"/>
            </a:xfrm>
            <a:custGeom>
              <a:avLst/>
              <a:gdLst/>
              <a:ahLst/>
              <a:cxnLst/>
              <a:rect r="r" b="b" t="t" l="l"/>
              <a:pathLst>
                <a:path h="690892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562758"/>
                  </a:lnTo>
                  <a:cubicBezTo>
                    <a:pt x="318265" y="596741"/>
                    <a:pt x="304765" y="629333"/>
                    <a:pt x="280735" y="653363"/>
                  </a:cubicBezTo>
                  <a:cubicBezTo>
                    <a:pt x="256705" y="677392"/>
                    <a:pt x="224114" y="690892"/>
                    <a:pt x="190131" y="690892"/>
                  </a:cubicBezTo>
                  <a:lnTo>
                    <a:pt x="128134" y="690892"/>
                  </a:lnTo>
                  <a:cubicBezTo>
                    <a:pt x="94151" y="690892"/>
                    <a:pt x="61559" y="677392"/>
                    <a:pt x="37530" y="653363"/>
                  </a:cubicBezTo>
                  <a:cubicBezTo>
                    <a:pt x="13500" y="629333"/>
                    <a:pt x="0" y="596741"/>
                    <a:pt x="0" y="562758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8265" cy="72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118007" y="2782575"/>
            <a:ext cx="7105794" cy="6537330"/>
          </a:xfrm>
          <a:custGeom>
            <a:avLst/>
            <a:gdLst/>
            <a:ahLst/>
            <a:cxnLst/>
            <a:rect r="r" b="b" t="t" l="l"/>
            <a:pathLst>
              <a:path h="6537330" w="7105794">
                <a:moveTo>
                  <a:pt x="0" y="0"/>
                </a:moveTo>
                <a:lnTo>
                  <a:pt x="7105794" y="0"/>
                </a:lnTo>
                <a:lnTo>
                  <a:pt x="7105794" y="6537330"/>
                </a:lnTo>
                <a:lnTo>
                  <a:pt x="0" y="653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0" y="9244012"/>
            <a:ext cx="1828800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870589" y="1649531"/>
            <a:ext cx="1264913" cy="1235221"/>
          </a:xfrm>
          <a:custGeom>
            <a:avLst/>
            <a:gdLst/>
            <a:ahLst/>
            <a:cxnLst/>
            <a:rect r="r" b="b" t="t" l="l"/>
            <a:pathLst>
              <a:path h="1235221" w="1264913">
                <a:moveTo>
                  <a:pt x="0" y="0"/>
                </a:moveTo>
                <a:lnTo>
                  <a:pt x="1264914" y="0"/>
                </a:lnTo>
                <a:lnTo>
                  <a:pt x="1264914" y="1235220"/>
                </a:lnTo>
                <a:lnTo>
                  <a:pt x="0" y="1235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35711" y="5736847"/>
            <a:ext cx="2336797" cy="2281943"/>
          </a:xfrm>
          <a:custGeom>
            <a:avLst/>
            <a:gdLst/>
            <a:ahLst/>
            <a:cxnLst/>
            <a:rect r="r" b="b" t="t" l="l"/>
            <a:pathLst>
              <a:path h="2281943" w="2336797">
                <a:moveTo>
                  <a:pt x="0" y="0"/>
                </a:moveTo>
                <a:lnTo>
                  <a:pt x="2336797" y="0"/>
                </a:lnTo>
                <a:lnTo>
                  <a:pt x="2336797" y="2281943"/>
                </a:lnTo>
                <a:lnTo>
                  <a:pt x="0" y="22819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797411" y="7956043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19" y="0"/>
                </a:lnTo>
                <a:lnTo>
                  <a:pt x="854319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35294" y="2785366"/>
            <a:ext cx="9306311" cy="225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5"/>
              </a:lnSpc>
            </a:pPr>
            <a:r>
              <a:rPr lang="en-US" sz="4500" b="true">
                <a:solidFill>
                  <a:srgbClr val="595B7E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Online Retail II — </a:t>
            </a:r>
          </a:p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595B7E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Customer Analytics Pipeline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435294" y="5116550"/>
            <a:ext cx="453540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Lang &amp; Tools : 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Python , power Bi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35503" y="1300314"/>
            <a:ext cx="531297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9" tooltip="https://www.linkedin.com/in/abdalla-mohamed-farouk/"/>
              </a:rPr>
              <a:t>link</a:t>
            </a:r>
            <a:r>
              <a:rPr lang="en-US" b="true" sz="20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10" tooltip="https://www.linkedin.com/in/abdalla-mohamed-farouk/"/>
              </a:rPr>
              <a:t>edin.com/in/abdalla-mohamed-farouk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5294" y="8336416"/>
            <a:ext cx="1979071" cy="34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resented By: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5294" y="8688915"/>
            <a:ext cx="249574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Abdalla Mohamed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931041" y="600702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19" y="0"/>
                </a:lnTo>
                <a:lnTo>
                  <a:pt x="854319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5777" r="-295051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58046" y="5839296"/>
            <a:ext cx="5401254" cy="2315752"/>
            <a:chOff x="0" y="0"/>
            <a:chExt cx="1422552" cy="6099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553" cy="609910"/>
            </a:xfrm>
            <a:custGeom>
              <a:avLst/>
              <a:gdLst/>
              <a:ahLst/>
              <a:cxnLst/>
              <a:rect r="r" b="b" t="t" l="l"/>
              <a:pathLst>
                <a:path h="609910" w="1422553">
                  <a:moveTo>
                    <a:pt x="28667" y="0"/>
                  </a:moveTo>
                  <a:lnTo>
                    <a:pt x="1393885" y="0"/>
                  </a:lnTo>
                  <a:cubicBezTo>
                    <a:pt x="1401488" y="0"/>
                    <a:pt x="1408780" y="3020"/>
                    <a:pt x="1414156" y="8396"/>
                  </a:cubicBezTo>
                  <a:cubicBezTo>
                    <a:pt x="1419532" y="13773"/>
                    <a:pt x="1422553" y="21064"/>
                    <a:pt x="1422553" y="28667"/>
                  </a:cubicBezTo>
                  <a:lnTo>
                    <a:pt x="1422553" y="581243"/>
                  </a:lnTo>
                  <a:cubicBezTo>
                    <a:pt x="1422553" y="597075"/>
                    <a:pt x="1409718" y="609910"/>
                    <a:pt x="1393885" y="609910"/>
                  </a:cubicBezTo>
                  <a:lnTo>
                    <a:pt x="28667" y="609910"/>
                  </a:lnTo>
                  <a:cubicBezTo>
                    <a:pt x="21064" y="609910"/>
                    <a:pt x="13773" y="606890"/>
                    <a:pt x="8396" y="601514"/>
                  </a:cubicBezTo>
                  <a:cubicBezTo>
                    <a:pt x="3020" y="596137"/>
                    <a:pt x="0" y="588846"/>
                    <a:pt x="0" y="581243"/>
                  </a:cubicBezTo>
                  <a:lnTo>
                    <a:pt x="0" y="28667"/>
                  </a:lnTo>
                  <a:cubicBezTo>
                    <a:pt x="0" y="12835"/>
                    <a:pt x="12835" y="0"/>
                    <a:pt x="28667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2552" cy="648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8041" y="7406834"/>
            <a:ext cx="2880166" cy="28801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00" t="0" r="-2500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49862" y="1771598"/>
            <a:ext cx="1859015" cy="1560235"/>
            <a:chOff x="0" y="0"/>
            <a:chExt cx="489617" cy="4109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9617" cy="410926"/>
            </a:xfrm>
            <a:custGeom>
              <a:avLst/>
              <a:gdLst/>
              <a:ahLst/>
              <a:cxnLst/>
              <a:rect r="r" b="b" t="t" l="l"/>
              <a:pathLst>
                <a:path h="410926" w="489617">
                  <a:moveTo>
                    <a:pt x="83291" y="0"/>
                  </a:moveTo>
                  <a:lnTo>
                    <a:pt x="406327" y="0"/>
                  </a:lnTo>
                  <a:cubicBezTo>
                    <a:pt x="428417" y="0"/>
                    <a:pt x="449602" y="8775"/>
                    <a:pt x="465222" y="24395"/>
                  </a:cubicBezTo>
                  <a:cubicBezTo>
                    <a:pt x="480842" y="40015"/>
                    <a:pt x="489617" y="61201"/>
                    <a:pt x="489617" y="83291"/>
                  </a:cubicBezTo>
                  <a:lnTo>
                    <a:pt x="489617" y="327635"/>
                  </a:lnTo>
                  <a:cubicBezTo>
                    <a:pt x="489617" y="349725"/>
                    <a:pt x="480842" y="370911"/>
                    <a:pt x="465222" y="386531"/>
                  </a:cubicBezTo>
                  <a:cubicBezTo>
                    <a:pt x="449602" y="402151"/>
                    <a:pt x="428417" y="410926"/>
                    <a:pt x="406327" y="410926"/>
                  </a:cubicBezTo>
                  <a:lnTo>
                    <a:pt x="83291" y="410926"/>
                  </a:lnTo>
                  <a:cubicBezTo>
                    <a:pt x="61201" y="410926"/>
                    <a:pt x="40015" y="402151"/>
                    <a:pt x="24395" y="386531"/>
                  </a:cubicBezTo>
                  <a:cubicBezTo>
                    <a:pt x="8775" y="370911"/>
                    <a:pt x="0" y="349725"/>
                    <a:pt x="0" y="327635"/>
                  </a:cubicBezTo>
                  <a:lnTo>
                    <a:pt x="0" y="83291"/>
                  </a:lnTo>
                  <a:cubicBezTo>
                    <a:pt x="0" y="61201"/>
                    <a:pt x="8775" y="40015"/>
                    <a:pt x="24395" y="24395"/>
                  </a:cubicBezTo>
                  <a:cubicBezTo>
                    <a:pt x="40015" y="8775"/>
                    <a:pt x="61201" y="0"/>
                    <a:pt x="83291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9617" cy="449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08866" y="433337"/>
            <a:ext cx="713445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95B7E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About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3997" y="2250411"/>
            <a:ext cx="45354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25284" y="3524264"/>
            <a:ext cx="15204745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simple Python pipel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ine that cleans the Online Retail II dataset and produces customer segments and retention analysis.</a:t>
            </a:r>
          </a:p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What It Does :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Load the raw dataset (CSV or Excel).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Clean it — remove duplicates, missing customers, cancellations, returns, and non-product items.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Score each customer with RFM (Recency, Frequency, Monetary).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Segment customers into groups like Champions, Loyal, At Risk, Hibernating.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Cluster customers with K-Means (optional).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Analyze cohorts — monthly retention by first-purchase month.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Export three CSV files.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898124" y="471437"/>
            <a:ext cx="1141318" cy="1114526"/>
          </a:xfrm>
          <a:custGeom>
            <a:avLst/>
            <a:gdLst/>
            <a:ahLst/>
            <a:cxnLst/>
            <a:rect r="r" b="b" t="t" l="l"/>
            <a:pathLst>
              <a:path h="1114526" w="1141318">
                <a:moveTo>
                  <a:pt x="0" y="0"/>
                </a:moveTo>
                <a:lnTo>
                  <a:pt x="1141318" y="0"/>
                </a:lnTo>
                <a:lnTo>
                  <a:pt x="1141318" y="1114526"/>
                </a:lnTo>
                <a:lnTo>
                  <a:pt x="0" y="1114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59929" y="9031264"/>
            <a:ext cx="2571844" cy="2511472"/>
          </a:xfrm>
          <a:custGeom>
            <a:avLst/>
            <a:gdLst/>
            <a:ahLst/>
            <a:cxnLst/>
            <a:rect r="r" b="b" t="t" l="l"/>
            <a:pathLst>
              <a:path h="2511472" w="2571844">
                <a:moveTo>
                  <a:pt x="0" y="0"/>
                </a:moveTo>
                <a:lnTo>
                  <a:pt x="2571844" y="0"/>
                </a:lnTo>
                <a:lnTo>
                  <a:pt x="2571844" y="2511472"/>
                </a:lnTo>
                <a:lnTo>
                  <a:pt x="0" y="2511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629963" y="7632787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19" y="0"/>
                </a:lnTo>
                <a:lnTo>
                  <a:pt x="854319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70964" y="4715502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20" y="0"/>
                </a:lnTo>
                <a:lnTo>
                  <a:pt x="854320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5777" r="-29505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58046" y="5839296"/>
            <a:ext cx="5401254" cy="2315752"/>
            <a:chOff x="0" y="0"/>
            <a:chExt cx="1422552" cy="6099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2553" cy="609910"/>
            </a:xfrm>
            <a:custGeom>
              <a:avLst/>
              <a:gdLst/>
              <a:ahLst/>
              <a:cxnLst/>
              <a:rect r="r" b="b" t="t" l="l"/>
              <a:pathLst>
                <a:path h="609910" w="1422553">
                  <a:moveTo>
                    <a:pt x="28667" y="0"/>
                  </a:moveTo>
                  <a:lnTo>
                    <a:pt x="1393885" y="0"/>
                  </a:lnTo>
                  <a:cubicBezTo>
                    <a:pt x="1401488" y="0"/>
                    <a:pt x="1408780" y="3020"/>
                    <a:pt x="1414156" y="8396"/>
                  </a:cubicBezTo>
                  <a:cubicBezTo>
                    <a:pt x="1419532" y="13773"/>
                    <a:pt x="1422553" y="21064"/>
                    <a:pt x="1422553" y="28667"/>
                  </a:cubicBezTo>
                  <a:lnTo>
                    <a:pt x="1422553" y="581243"/>
                  </a:lnTo>
                  <a:cubicBezTo>
                    <a:pt x="1422553" y="597075"/>
                    <a:pt x="1409718" y="609910"/>
                    <a:pt x="1393885" y="609910"/>
                  </a:cubicBezTo>
                  <a:lnTo>
                    <a:pt x="28667" y="609910"/>
                  </a:lnTo>
                  <a:cubicBezTo>
                    <a:pt x="21064" y="609910"/>
                    <a:pt x="13773" y="606890"/>
                    <a:pt x="8396" y="601514"/>
                  </a:cubicBezTo>
                  <a:cubicBezTo>
                    <a:pt x="3020" y="596137"/>
                    <a:pt x="0" y="588846"/>
                    <a:pt x="0" y="581243"/>
                  </a:cubicBezTo>
                  <a:lnTo>
                    <a:pt x="0" y="28667"/>
                  </a:lnTo>
                  <a:cubicBezTo>
                    <a:pt x="0" y="12835"/>
                    <a:pt x="12835" y="0"/>
                    <a:pt x="28667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2552" cy="648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8041" y="7406834"/>
            <a:ext cx="2880166" cy="28801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00" t="0" r="-2500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49862" y="1771598"/>
            <a:ext cx="1859015" cy="1560235"/>
            <a:chOff x="0" y="0"/>
            <a:chExt cx="489617" cy="4109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9617" cy="410926"/>
            </a:xfrm>
            <a:custGeom>
              <a:avLst/>
              <a:gdLst/>
              <a:ahLst/>
              <a:cxnLst/>
              <a:rect r="r" b="b" t="t" l="l"/>
              <a:pathLst>
                <a:path h="410926" w="489617">
                  <a:moveTo>
                    <a:pt x="83291" y="0"/>
                  </a:moveTo>
                  <a:lnTo>
                    <a:pt x="406327" y="0"/>
                  </a:lnTo>
                  <a:cubicBezTo>
                    <a:pt x="428417" y="0"/>
                    <a:pt x="449602" y="8775"/>
                    <a:pt x="465222" y="24395"/>
                  </a:cubicBezTo>
                  <a:cubicBezTo>
                    <a:pt x="480842" y="40015"/>
                    <a:pt x="489617" y="61201"/>
                    <a:pt x="489617" y="83291"/>
                  </a:cubicBezTo>
                  <a:lnTo>
                    <a:pt x="489617" y="327635"/>
                  </a:lnTo>
                  <a:cubicBezTo>
                    <a:pt x="489617" y="349725"/>
                    <a:pt x="480842" y="370911"/>
                    <a:pt x="465222" y="386531"/>
                  </a:cubicBezTo>
                  <a:cubicBezTo>
                    <a:pt x="449602" y="402151"/>
                    <a:pt x="428417" y="410926"/>
                    <a:pt x="406327" y="410926"/>
                  </a:cubicBezTo>
                  <a:lnTo>
                    <a:pt x="83291" y="410926"/>
                  </a:lnTo>
                  <a:cubicBezTo>
                    <a:pt x="61201" y="410926"/>
                    <a:pt x="40015" y="402151"/>
                    <a:pt x="24395" y="386531"/>
                  </a:cubicBezTo>
                  <a:cubicBezTo>
                    <a:pt x="8775" y="370911"/>
                    <a:pt x="0" y="349725"/>
                    <a:pt x="0" y="327635"/>
                  </a:cubicBezTo>
                  <a:lnTo>
                    <a:pt x="0" y="83291"/>
                  </a:lnTo>
                  <a:cubicBezTo>
                    <a:pt x="0" y="61201"/>
                    <a:pt x="8775" y="40015"/>
                    <a:pt x="24395" y="24395"/>
                  </a:cubicBezTo>
                  <a:cubicBezTo>
                    <a:pt x="40015" y="8775"/>
                    <a:pt x="61201" y="0"/>
                    <a:pt x="83291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9617" cy="449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08866" y="433337"/>
            <a:ext cx="713445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95B7E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About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3997" y="2250411"/>
            <a:ext cx="45354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Power Bi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898124" y="471437"/>
            <a:ext cx="1141318" cy="1114526"/>
          </a:xfrm>
          <a:custGeom>
            <a:avLst/>
            <a:gdLst/>
            <a:ahLst/>
            <a:cxnLst/>
            <a:rect r="r" b="b" t="t" l="l"/>
            <a:pathLst>
              <a:path h="1114526" w="1141318">
                <a:moveTo>
                  <a:pt x="0" y="0"/>
                </a:moveTo>
                <a:lnTo>
                  <a:pt x="1141318" y="0"/>
                </a:lnTo>
                <a:lnTo>
                  <a:pt x="1141318" y="1114526"/>
                </a:lnTo>
                <a:lnTo>
                  <a:pt x="0" y="1114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59929" y="9031264"/>
            <a:ext cx="2571844" cy="2511472"/>
          </a:xfrm>
          <a:custGeom>
            <a:avLst/>
            <a:gdLst/>
            <a:ahLst/>
            <a:cxnLst/>
            <a:rect r="r" b="b" t="t" l="l"/>
            <a:pathLst>
              <a:path h="2511472" w="2571844">
                <a:moveTo>
                  <a:pt x="0" y="0"/>
                </a:moveTo>
                <a:lnTo>
                  <a:pt x="2571844" y="0"/>
                </a:lnTo>
                <a:lnTo>
                  <a:pt x="2571844" y="2511472"/>
                </a:lnTo>
                <a:lnTo>
                  <a:pt x="0" y="2511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629963" y="7632787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19" y="0"/>
                </a:lnTo>
                <a:lnTo>
                  <a:pt x="854319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70964" y="4715502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20" y="0"/>
                </a:lnTo>
                <a:lnTo>
                  <a:pt x="854320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20257" y="2830830"/>
            <a:ext cx="5462885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i="true" spc="67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Page 1: Overview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Shows the main business numbers.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metrics: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Order Value: 475.16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Customers: 4K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Sales: 9M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Orders: 18K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Also shows: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Customers by segment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by segment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67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order value by country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1733498"/>
            <a:ext cx="8626320" cy="778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true" spc="58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Page 2: RFM Analysis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RFM scores every customer on three things: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Recency — how recently they bought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Frequency — how often they buy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Monetary — how much they spend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gets a score from 1 to 5.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Customers are grouped into 10 segments: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Champions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Loyal Customers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 Loyalists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 Customers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Promising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Need Attention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 to Sleep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Risk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Can't Lose Them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Hibernating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by segment: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Champions: 49.32%  Loyal Customers: 25.72%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Risk: 7.24%  Hibernating: 5.9%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58">
                <a:solidFill>
                  <a:srgbClr val="595B7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 Loyalists: 5.78%   Others: 1.76%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8041" y="7406834"/>
            <a:ext cx="2880166" cy="288016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00" t="0" r="-2500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49862" y="1771598"/>
            <a:ext cx="1859015" cy="1560235"/>
            <a:chOff x="0" y="0"/>
            <a:chExt cx="489617" cy="4109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9617" cy="410926"/>
            </a:xfrm>
            <a:custGeom>
              <a:avLst/>
              <a:gdLst/>
              <a:ahLst/>
              <a:cxnLst/>
              <a:rect r="r" b="b" t="t" l="l"/>
              <a:pathLst>
                <a:path h="410926" w="489617">
                  <a:moveTo>
                    <a:pt x="83291" y="0"/>
                  </a:moveTo>
                  <a:lnTo>
                    <a:pt x="406327" y="0"/>
                  </a:lnTo>
                  <a:cubicBezTo>
                    <a:pt x="428417" y="0"/>
                    <a:pt x="449602" y="8775"/>
                    <a:pt x="465222" y="24395"/>
                  </a:cubicBezTo>
                  <a:cubicBezTo>
                    <a:pt x="480842" y="40015"/>
                    <a:pt x="489617" y="61201"/>
                    <a:pt x="489617" y="83291"/>
                  </a:cubicBezTo>
                  <a:lnTo>
                    <a:pt x="489617" y="327635"/>
                  </a:lnTo>
                  <a:cubicBezTo>
                    <a:pt x="489617" y="349725"/>
                    <a:pt x="480842" y="370911"/>
                    <a:pt x="465222" y="386531"/>
                  </a:cubicBezTo>
                  <a:cubicBezTo>
                    <a:pt x="449602" y="402151"/>
                    <a:pt x="428417" y="410926"/>
                    <a:pt x="406327" y="410926"/>
                  </a:cubicBezTo>
                  <a:lnTo>
                    <a:pt x="83291" y="410926"/>
                  </a:lnTo>
                  <a:cubicBezTo>
                    <a:pt x="61201" y="410926"/>
                    <a:pt x="40015" y="402151"/>
                    <a:pt x="24395" y="386531"/>
                  </a:cubicBezTo>
                  <a:cubicBezTo>
                    <a:pt x="8775" y="370911"/>
                    <a:pt x="0" y="349725"/>
                    <a:pt x="0" y="327635"/>
                  </a:cubicBezTo>
                  <a:lnTo>
                    <a:pt x="0" y="83291"/>
                  </a:lnTo>
                  <a:cubicBezTo>
                    <a:pt x="0" y="61201"/>
                    <a:pt x="8775" y="40015"/>
                    <a:pt x="24395" y="24395"/>
                  </a:cubicBezTo>
                  <a:cubicBezTo>
                    <a:pt x="40015" y="8775"/>
                    <a:pt x="61201" y="0"/>
                    <a:pt x="83291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9617" cy="449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908866" y="433337"/>
            <a:ext cx="713445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95B7E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About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3997" y="2250411"/>
            <a:ext cx="45354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Power Bi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98124" y="471437"/>
            <a:ext cx="1141318" cy="1114526"/>
          </a:xfrm>
          <a:custGeom>
            <a:avLst/>
            <a:gdLst/>
            <a:ahLst/>
            <a:cxnLst/>
            <a:rect r="r" b="b" t="t" l="l"/>
            <a:pathLst>
              <a:path h="1114526" w="1141318">
                <a:moveTo>
                  <a:pt x="0" y="0"/>
                </a:moveTo>
                <a:lnTo>
                  <a:pt x="1141318" y="0"/>
                </a:lnTo>
                <a:lnTo>
                  <a:pt x="1141318" y="1114526"/>
                </a:lnTo>
                <a:lnTo>
                  <a:pt x="0" y="1114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59929" y="9031264"/>
            <a:ext cx="2571844" cy="2511472"/>
          </a:xfrm>
          <a:custGeom>
            <a:avLst/>
            <a:gdLst/>
            <a:ahLst/>
            <a:cxnLst/>
            <a:rect r="r" b="b" t="t" l="l"/>
            <a:pathLst>
              <a:path h="2511472" w="2571844">
                <a:moveTo>
                  <a:pt x="0" y="0"/>
                </a:moveTo>
                <a:lnTo>
                  <a:pt x="2571844" y="0"/>
                </a:lnTo>
                <a:lnTo>
                  <a:pt x="2571844" y="2511472"/>
                </a:lnTo>
                <a:lnTo>
                  <a:pt x="0" y="2511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629963" y="7632787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19" y="0"/>
                </a:lnTo>
                <a:lnTo>
                  <a:pt x="854319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0964" y="4715502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20" y="0"/>
                </a:lnTo>
                <a:lnTo>
                  <a:pt x="854320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2830830"/>
            <a:ext cx="9144000" cy="710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8B5F5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Page 3: Cohort Trends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Shows how many customers come back after their first purchase.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Retention drops fast: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Month 1: 100%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Month 2: about 2.4%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Month 12: less than 1%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Sales by first purchase quarter: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Qtr 4: 55.42%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Qtr 1: 26.49%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Qtr 3: 11.8%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Qtr 2: about 6%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Yearly retention: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2010: 5.43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2011: 26.19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i="true" spc="67">
                <a:solidFill>
                  <a:srgbClr val="595B7E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Total: 31.63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632980" y="3816491"/>
            <a:ext cx="8626320" cy="462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5"/>
              </a:lnSpc>
              <a:spcBef>
                <a:spcPct val="0"/>
              </a:spcBef>
            </a:pPr>
            <a:r>
              <a:rPr lang="en-US" b="true" sz="2100" i="true" spc="58">
                <a:solidFill>
                  <a:srgbClr val="8B5F5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Page 4: Geospatial</a:t>
            </a:r>
          </a:p>
          <a:p>
            <a:pPr algn="ctr">
              <a:lnSpc>
                <a:spcPts val="3675"/>
              </a:lnSpc>
              <a:spcBef>
                <a:spcPct val="0"/>
              </a:spcBef>
            </a:pP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Sh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wh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 customer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are ar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the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ld.</a:t>
            </a:r>
          </a:p>
          <a:p>
            <a:pPr algn="ctr" marL="453392" indent="-226696" lvl="1">
              <a:lnSpc>
                <a:spcPts val="36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Ki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gdom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h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as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t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mos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tome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rs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nd sa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</a:t>
            </a:r>
          </a:p>
          <a:p>
            <a:pPr algn="ctr" marL="453392" indent="-226696" lvl="1">
              <a:lnSpc>
                <a:spcPts val="36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er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ts: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lan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,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Germa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y,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Franc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, 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eth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erl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</a:t>
            </a:r>
          </a:p>
          <a:p>
            <a:pPr algn="ctr" marL="453392" indent="-226696" lvl="1">
              <a:lnSpc>
                <a:spcPts val="36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ny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m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 c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nt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it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mall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um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ers</a:t>
            </a:r>
          </a:p>
          <a:p>
            <a:pPr algn="ctr">
              <a:lnSpc>
                <a:spcPts val="3675"/>
              </a:lnSpc>
              <a:spcBef>
                <a:spcPct val="0"/>
              </a:spcBef>
            </a:pPr>
            <a:r>
              <a:rPr lang="en-US" b="true" sz="2100" i="true" spc="58">
                <a:solidFill>
                  <a:srgbClr val="8B5F5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Charts on this page:</a:t>
            </a:r>
          </a:p>
          <a:p>
            <a:pPr algn="ctr" marL="453392" indent="-226696" lvl="1">
              <a:lnSpc>
                <a:spcPts val="36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World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o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custo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mer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 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 s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les</a:t>
            </a:r>
          </a:p>
          <a:p>
            <a:pPr algn="ctr" marL="453392" indent="-226696" lvl="1">
              <a:lnSpc>
                <a:spcPts val="36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Revenue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share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by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cou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nt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ry (d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on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ut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ch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rt)</a:t>
            </a:r>
          </a:p>
          <a:p>
            <a:pPr algn="ctr" marL="453392" indent="-226696" lvl="1">
              <a:lnSpc>
                <a:spcPts val="36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Customers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and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av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erag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o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rd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v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al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ue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by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country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(bar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</a:t>
            </a:r>
            <a:r>
              <a:rPr lang="en-US" b="true" sz="2100" i="true" spc="58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t)</a:t>
            </a:r>
          </a:p>
          <a:p>
            <a:pPr algn="ctr">
              <a:lnSpc>
                <a:spcPts val="36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83795" y="1159899"/>
            <a:ext cx="1208411" cy="2623231"/>
            <a:chOff x="0" y="0"/>
            <a:chExt cx="318265" cy="690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265" cy="690892"/>
            </a:xfrm>
            <a:custGeom>
              <a:avLst/>
              <a:gdLst/>
              <a:ahLst/>
              <a:cxnLst/>
              <a:rect r="r" b="b" t="t" l="l"/>
              <a:pathLst>
                <a:path h="690892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562758"/>
                  </a:lnTo>
                  <a:cubicBezTo>
                    <a:pt x="318265" y="596741"/>
                    <a:pt x="304765" y="629333"/>
                    <a:pt x="280735" y="653363"/>
                  </a:cubicBezTo>
                  <a:cubicBezTo>
                    <a:pt x="256705" y="677392"/>
                    <a:pt x="224114" y="690892"/>
                    <a:pt x="190131" y="690892"/>
                  </a:cubicBezTo>
                  <a:lnTo>
                    <a:pt x="128134" y="690892"/>
                  </a:lnTo>
                  <a:cubicBezTo>
                    <a:pt x="94151" y="690892"/>
                    <a:pt x="61559" y="677392"/>
                    <a:pt x="37530" y="653363"/>
                  </a:cubicBezTo>
                  <a:cubicBezTo>
                    <a:pt x="13500" y="629333"/>
                    <a:pt x="0" y="596741"/>
                    <a:pt x="0" y="562758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265" cy="72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94760" y="1917832"/>
            <a:ext cx="14793240" cy="8369168"/>
          </a:xfrm>
          <a:custGeom>
            <a:avLst/>
            <a:gdLst/>
            <a:ahLst/>
            <a:cxnLst/>
            <a:rect r="r" b="b" t="t" l="l"/>
            <a:pathLst>
              <a:path h="8369168" w="14793240">
                <a:moveTo>
                  <a:pt x="0" y="0"/>
                </a:moveTo>
                <a:lnTo>
                  <a:pt x="14793240" y="0"/>
                </a:lnTo>
                <a:lnTo>
                  <a:pt x="14793240" y="8369168"/>
                </a:lnTo>
                <a:lnTo>
                  <a:pt x="0" y="8369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9755" y="146506"/>
            <a:ext cx="6001854" cy="1560235"/>
            <a:chOff x="0" y="0"/>
            <a:chExt cx="1580735" cy="4109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0735" cy="410926"/>
            </a:xfrm>
            <a:custGeom>
              <a:avLst/>
              <a:gdLst/>
              <a:ahLst/>
              <a:cxnLst/>
              <a:rect r="r" b="b" t="t" l="l"/>
              <a:pathLst>
                <a:path h="410926" w="1580735">
                  <a:moveTo>
                    <a:pt x="25798" y="0"/>
                  </a:moveTo>
                  <a:lnTo>
                    <a:pt x="1554937" y="0"/>
                  </a:lnTo>
                  <a:cubicBezTo>
                    <a:pt x="1561779" y="0"/>
                    <a:pt x="1568341" y="2718"/>
                    <a:pt x="1573179" y="7556"/>
                  </a:cubicBezTo>
                  <a:cubicBezTo>
                    <a:pt x="1578017" y="12394"/>
                    <a:pt x="1580735" y="18956"/>
                    <a:pt x="1580735" y="25798"/>
                  </a:cubicBezTo>
                  <a:lnTo>
                    <a:pt x="1580735" y="385128"/>
                  </a:lnTo>
                  <a:cubicBezTo>
                    <a:pt x="1580735" y="391970"/>
                    <a:pt x="1578017" y="398532"/>
                    <a:pt x="1573179" y="403370"/>
                  </a:cubicBezTo>
                  <a:cubicBezTo>
                    <a:pt x="1568341" y="408208"/>
                    <a:pt x="1561779" y="410926"/>
                    <a:pt x="1554937" y="410926"/>
                  </a:cubicBezTo>
                  <a:lnTo>
                    <a:pt x="25798" y="410926"/>
                  </a:lnTo>
                  <a:cubicBezTo>
                    <a:pt x="18956" y="410926"/>
                    <a:pt x="12394" y="408208"/>
                    <a:pt x="7556" y="403370"/>
                  </a:cubicBezTo>
                  <a:cubicBezTo>
                    <a:pt x="2718" y="398532"/>
                    <a:pt x="0" y="391970"/>
                    <a:pt x="0" y="385128"/>
                  </a:cubicBezTo>
                  <a:lnTo>
                    <a:pt x="0" y="25798"/>
                  </a:lnTo>
                  <a:cubicBezTo>
                    <a:pt x="0" y="18956"/>
                    <a:pt x="2718" y="12394"/>
                    <a:pt x="7556" y="7556"/>
                  </a:cubicBezTo>
                  <a:cubicBezTo>
                    <a:pt x="12394" y="2718"/>
                    <a:pt x="18956" y="0"/>
                    <a:pt x="25798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80735" cy="449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5738" y="680879"/>
            <a:ext cx="5540444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i="true" spc="92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83795" y="1159899"/>
            <a:ext cx="1208411" cy="2623231"/>
            <a:chOff x="0" y="0"/>
            <a:chExt cx="318265" cy="690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265" cy="690892"/>
            </a:xfrm>
            <a:custGeom>
              <a:avLst/>
              <a:gdLst/>
              <a:ahLst/>
              <a:cxnLst/>
              <a:rect r="r" b="b" t="t" l="l"/>
              <a:pathLst>
                <a:path h="690892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562758"/>
                  </a:lnTo>
                  <a:cubicBezTo>
                    <a:pt x="318265" y="596741"/>
                    <a:pt x="304765" y="629333"/>
                    <a:pt x="280735" y="653363"/>
                  </a:cubicBezTo>
                  <a:cubicBezTo>
                    <a:pt x="256705" y="677392"/>
                    <a:pt x="224114" y="690892"/>
                    <a:pt x="190131" y="690892"/>
                  </a:cubicBezTo>
                  <a:lnTo>
                    <a:pt x="128134" y="690892"/>
                  </a:lnTo>
                  <a:cubicBezTo>
                    <a:pt x="94151" y="690892"/>
                    <a:pt x="61559" y="677392"/>
                    <a:pt x="37530" y="653363"/>
                  </a:cubicBezTo>
                  <a:cubicBezTo>
                    <a:pt x="13500" y="629333"/>
                    <a:pt x="0" y="596741"/>
                    <a:pt x="0" y="562758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265" cy="72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71503" y="2069107"/>
            <a:ext cx="14575241" cy="8188221"/>
          </a:xfrm>
          <a:custGeom>
            <a:avLst/>
            <a:gdLst/>
            <a:ahLst/>
            <a:cxnLst/>
            <a:rect r="r" b="b" t="t" l="l"/>
            <a:pathLst>
              <a:path h="8188221" w="14575241">
                <a:moveTo>
                  <a:pt x="0" y="0"/>
                </a:moveTo>
                <a:lnTo>
                  <a:pt x="14575241" y="0"/>
                </a:lnTo>
                <a:lnTo>
                  <a:pt x="14575241" y="8188221"/>
                </a:lnTo>
                <a:lnTo>
                  <a:pt x="0" y="818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9755" y="146506"/>
            <a:ext cx="6001854" cy="1560235"/>
            <a:chOff x="0" y="0"/>
            <a:chExt cx="1580735" cy="4109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0735" cy="410926"/>
            </a:xfrm>
            <a:custGeom>
              <a:avLst/>
              <a:gdLst/>
              <a:ahLst/>
              <a:cxnLst/>
              <a:rect r="r" b="b" t="t" l="l"/>
              <a:pathLst>
                <a:path h="410926" w="1580735">
                  <a:moveTo>
                    <a:pt x="25798" y="0"/>
                  </a:moveTo>
                  <a:lnTo>
                    <a:pt x="1554937" y="0"/>
                  </a:lnTo>
                  <a:cubicBezTo>
                    <a:pt x="1561779" y="0"/>
                    <a:pt x="1568341" y="2718"/>
                    <a:pt x="1573179" y="7556"/>
                  </a:cubicBezTo>
                  <a:cubicBezTo>
                    <a:pt x="1578017" y="12394"/>
                    <a:pt x="1580735" y="18956"/>
                    <a:pt x="1580735" y="25798"/>
                  </a:cubicBezTo>
                  <a:lnTo>
                    <a:pt x="1580735" y="385128"/>
                  </a:lnTo>
                  <a:cubicBezTo>
                    <a:pt x="1580735" y="391970"/>
                    <a:pt x="1578017" y="398532"/>
                    <a:pt x="1573179" y="403370"/>
                  </a:cubicBezTo>
                  <a:cubicBezTo>
                    <a:pt x="1568341" y="408208"/>
                    <a:pt x="1561779" y="410926"/>
                    <a:pt x="1554937" y="410926"/>
                  </a:cubicBezTo>
                  <a:lnTo>
                    <a:pt x="25798" y="410926"/>
                  </a:lnTo>
                  <a:cubicBezTo>
                    <a:pt x="18956" y="410926"/>
                    <a:pt x="12394" y="408208"/>
                    <a:pt x="7556" y="403370"/>
                  </a:cubicBezTo>
                  <a:cubicBezTo>
                    <a:pt x="2718" y="398532"/>
                    <a:pt x="0" y="391970"/>
                    <a:pt x="0" y="385128"/>
                  </a:cubicBezTo>
                  <a:lnTo>
                    <a:pt x="0" y="25798"/>
                  </a:lnTo>
                  <a:cubicBezTo>
                    <a:pt x="0" y="18956"/>
                    <a:pt x="2718" y="12394"/>
                    <a:pt x="7556" y="7556"/>
                  </a:cubicBezTo>
                  <a:cubicBezTo>
                    <a:pt x="12394" y="2718"/>
                    <a:pt x="18956" y="0"/>
                    <a:pt x="25798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80735" cy="449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25738" y="680879"/>
            <a:ext cx="5540444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i="true" spc="92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RFM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83795" y="1159899"/>
            <a:ext cx="1208411" cy="2623231"/>
            <a:chOff x="0" y="0"/>
            <a:chExt cx="318265" cy="690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265" cy="690892"/>
            </a:xfrm>
            <a:custGeom>
              <a:avLst/>
              <a:gdLst/>
              <a:ahLst/>
              <a:cxnLst/>
              <a:rect r="r" b="b" t="t" l="l"/>
              <a:pathLst>
                <a:path h="690892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562758"/>
                  </a:lnTo>
                  <a:cubicBezTo>
                    <a:pt x="318265" y="596741"/>
                    <a:pt x="304765" y="629333"/>
                    <a:pt x="280735" y="653363"/>
                  </a:cubicBezTo>
                  <a:cubicBezTo>
                    <a:pt x="256705" y="677392"/>
                    <a:pt x="224114" y="690892"/>
                    <a:pt x="190131" y="690892"/>
                  </a:cubicBezTo>
                  <a:lnTo>
                    <a:pt x="128134" y="690892"/>
                  </a:lnTo>
                  <a:cubicBezTo>
                    <a:pt x="94151" y="690892"/>
                    <a:pt x="61559" y="677392"/>
                    <a:pt x="37530" y="653363"/>
                  </a:cubicBezTo>
                  <a:cubicBezTo>
                    <a:pt x="13500" y="629333"/>
                    <a:pt x="0" y="596741"/>
                    <a:pt x="0" y="562758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265" cy="72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9755" y="146506"/>
            <a:ext cx="6001854" cy="1560235"/>
            <a:chOff x="0" y="0"/>
            <a:chExt cx="1580735" cy="410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0735" cy="410926"/>
            </a:xfrm>
            <a:custGeom>
              <a:avLst/>
              <a:gdLst/>
              <a:ahLst/>
              <a:cxnLst/>
              <a:rect r="r" b="b" t="t" l="l"/>
              <a:pathLst>
                <a:path h="410926" w="1580735">
                  <a:moveTo>
                    <a:pt x="25798" y="0"/>
                  </a:moveTo>
                  <a:lnTo>
                    <a:pt x="1554937" y="0"/>
                  </a:lnTo>
                  <a:cubicBezTo>
                    <a:pt x="1561779" y="0"/>
                    <a:pt x="1568341" y="2718"/>
                    <a:pt x="1573179" y="7556"/>
                  </a:cubicBezTo>
                  <a:cubicBezTo>
                    <a:pt x="1578017" y="12394"/>
                    <a:pt x="1580735" y="18956"/>
                    <a:pt x="1580735" y="25798"/>
                  </a:cubicBezTo>
                  <a:lnTo>
                    <a:pt x="1580735" y="385128"/>
                  </a:lnTo>
                  <a:cubicBezTo>
                    <a:pt x="1580735" y="391970"/>
                    <a:pt x="1578017" y="398532"/>
                    <a:pt x="1573179" y="403370"/>
                  </a:cubicBezTo>
                  <a:cubicBezTo>
                    <a:pt x="1568341" y="408208"/>
                    <a:pt x="1561779" y="410926"/>
                    <a:pt x="1554937" y="410926"/>
                  </a:cubicBezTo>
                  <a:lnTo>
                    <a:pt x="25798" y="410926"/>
                  </a:lnTo>
                  <a:cubicBezTo>
                    <a:pt x="18956" y="410926"/>
                    <a:pt x="12394" y="408208"/>
                    <a:pt x="7556" y="403370"/>
                  </a:cubicBezTo>
                  <a:cubicBezTo>
                    <a:pt x="2718" y="398532"/>
                    <a:pt x="0" y="391970"/>
                    <a:pt x="0" y="385128"/>
                  </a:cubicBezTo>
                  <a:lnTo>
                    <a:pt x="0" y="25798"/>
                  </a:lnTo>
                  <a:cubicBezTo>
                    <a:pt x="0" y="18956"/>
                    <a:pt x="2718" y="12394"/>
                    <a:pt x="7556" y="7556"/>
                  </a:cubicBezTo>
                  <a:cubicBezTo>
                    <a:pt x="12394" y="2718"/>
                    <a:pt x="18956" y="0"/>
                    <a:pt x="25798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80735" cy="449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512079" y="1968564"/>
            <a:ext cx="14775921" cy="8329768"/>
          </a:xfrm>
          <a:custGeom>
            <a:avLst/>
            <a:gdLst/>
            <a:ahLst/>
            <a:cxnLst/>
            <a:rect r="r" b="b" t="t" l="l"/>
            <a:pathLst>
              <a:path h="8329768" w="14775921">
                <a:moveTo>
                  <a:pt x="0" y="0"/>
                </a:moveTo>
                <a:lnTo>
                  <a:pt x="14775921" y="0"/>
                </a:lnTo>
                <a:lnTo>
                  <a:pt x="14775921" y="8329769"/>
                </a:lnTo>
                <a:lnTo>
                  <a:pt x="0" y="832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5738" y="680879"/>
            <a:ext cx="5540444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i="true" spc="92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Cohort Trends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83795" y="1159899"/>
            <a:ext cx="1208411" cy="2623231"/>
            <a:chOff x="0" y="0"/>
            <a:chExt cx="318265" cy="690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265" cy="690892"/>
            </a:xfrm>
            <a:custGeom>
              <a:avLst/>
              <a:gdLst/>
              <a:ahLst/>
              <a:cxnLst/>
              <a:rect r="r" b="b" t="t" l="l"/>
              <a:pathLst>
                <a:path h="690892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562758"/>
                  </a:lnTo>
                  <a:cubicBezTo>
                    <a:pt x="318265" y="596741"/>
                    <a:pt x="304765" y="629333"/>
                    <a:pt x="280735" y="653363"/>
                  </a:cubicBezTo>
                  <a:cubicBezTo>
                    <a:pt x="256705" y="677392"/>
                    <a:pt x="224114" y="690892"/>
                    <a:pt x="190131" y="690892"/>
                  </a:cubicBezTo>
                  <a:lnTo>
                    <a:pt x="128134" y="690892"/>
                  </a:lnTo>
                  <a:cubicBezTo>
                    <a:pt x="94151" y="690892"/>
                    <a:pt x="61559" y="677392"/>
                    <a:pt x="37530" y="653363"/>
                  </a:cubicBezTo>
                  <a:cubicBezTo>
                    <a:pt x="13500" y="629333"/>
                    <a:pt x="0" y="596741"/>
                    <a:pt x="0" y="562758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265" cy="72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9755" y="146506"/>
            <a:ext cx="6001854" cy="1560235"/>
            <a:chOff x="0" y="0"/>
            <a:chExt cx="1580735" cy="410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0735" cy="410926"/>
            </a:xfrm>
            <a:custGeom>
              <a:avLst/>
              <a:gdLst/>
              <a:ahLst/>
              <a:cxnLst/>
              <a:rect r="r" b="b" t="t" l="l"/>
              <a:pathLst>
                <a:path h="410926" w="1580735">
                  <a:moveTo>
                    <a:pt x="25798" y="0"/>
                  </a:moveTo>
                  <a:lnTo>
                    <a:pt x="1554937" y="0"/>
                  </a:lnTo>
                  <a:cubicBezTo>
                    <a:pt x="1561779" y="0"/>
                    <a:pt x="1568341" y="2718"/>
                    <a:pt x="1573179" y="7556"/>
                  </a:cubicBezTo>
                  <a:cubicBezTo>
                    <a:pt x="1578017" y="12394"/>
                    <a:pt x="1580735" y="18956"/>
                    <a:pt x="1580735" y="25798"/>
                  </a:cubicBezTo>
                  <a:lnTo>
                    <a:pt x="1580735" y="385128"/>
                  </a:lnTo>
                  <a:cubicBezTo>
                    <a:pt x="1580735" y="391970"/>
                    <a:pt x="1578017" y="398532"/>
                    <a:pt x="1573179" y="403370"/>
                  </a:cubicBezTo>
                  <a:cubicBezTo>
                    <a:pt x="1568341" y="408208"/>
                    <a:pt x="1561779" y="410926"/>
                    <a:pt x="1554937" y="410926"/>
                  </a:cubicBezTo>
                  <a:lnTo>
                    <a:pt x="25798" y="410926"/>
                  </a:lnTo>
                  <a:cubicBezTo>
                    <a:pt x="18956" y="410926"/>
                    <a:pt x="12394" y="408208"/>
                    <a:pt x="7556" y="403370"/>
                  </a:cubicBezTo>
                  <a:cubicBezTo>
                    <a:pt x="2718" y="398532"/>
                    <a:pt x="0" y="391970"/>
                    <a:pt x="0" y="385128"/>
                  </a:cubicBezTo>
                  <a:lnTo>
                    <a:pt x="0" y="25798"/>
                  </a:lnTo>
                  <a:cubicBezTo>
                    <a:pt x="0" y="18956"/>
                    <a:pt x="2718" y="12394"/>
                    <a:pt x="7556" y="7556"/>
                  </a:cubicBezTo>
                  <a:cubicBezTo>
                    <a:pt x="12394" y="2718"/>
                    <a:pt x="18956" y="0"/>
                    <a:pt x="25798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80735" cy="449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532749" y="1987669"/>
            <a:ext cx="14755251" cy="8298521"/>
          </a:xfrm>
          <a:custGeom>
            <a:avLst/>
            <a:gdLst/>
            <a:ahLst/>
            <a:cxnLst/>
            <a:rect r="r" b="b" t="t" l="l"/>
            <a:pathLst>
              <a:path h="8298521" w="14755251">
                <a:moveTo>
                  <a:pt x="0" y="0"/>
                </a:moveTo>
                <a:lnTo>
                  <a:pt x="14755251" y="0"/>
                </a:lnTo>
                <a:lnTo>
                  <a:pt x="14755251" y="8298520"/>
                </a:lnTo>
                <a:lnTo>
                  <a:pt x="0" y="8298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5738" y="680879"/>
            <a:ext cx="5540444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i="true" spc="92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Geospatial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91757" y="2042725"/>
            <a:ext cx="8073797" cy="3059960"/>
            <a:chOff x="0" y="0"/>
            <a:chExt cx="2126432" cy="8059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6432" cy="805915"/>
            </a:xfrm>
            <a:custGeom>
              <a:avLst/>
              <a:gdLst/>
              <a:ahLst/>
              <a:cxnLst/>
              <a:rect r="r" b="b" t="t" l="l"/>
              <a:pathLst>
                <a:path h="805915" w="2126432">
                  <a:moveTo>
                    <a:pt x="48904" y="0"/>
                  </a:moveTo>
                  <a:lnTo>
                    <a:pt x="2077528" y="0"/>
                  </a:lnTo>
                  <a:cubicBezTo>
                    <a:pt x="2104537" y="0"/>
                    <a:pt x="2126432" y="21895"/>
                    <a:pt x="2126432" y="48904"/>
                  </a:cubicBezTo>
                  <a:lnTo>
                    <a:pt x="2126432" y="757012"/>
                  </a:lnTo>
                  <a:cubicBezTo>
                    <a:pt x="2126432" y="769982"/>
                    <a:pt x="2121280" y="782421"/>
                    <a:pt x="2112108" y="791592"/>
                  </a:cubicBezTo>
                  <a:cubicBezTo>
                    <a:pt x="2102937" y="800763"/>
                    <a:pt x="2090498" y="805915"/>
                    <a:pt x="2077528" y="805915"/>
                  </a:cubicBezTo>
                  <a:lnTo>
                    <a:pt x="48904" y="805915"/>
                  </a:lnTo>
                  <a:cubicBezTo>
                    <a:pt x="21895" y="805915"/>
                    <a:pt x="0" y="784021"/>
                    <a:pt x="0" y="757012"/>
                  </a:cubicBezTo>
                  <a:lnTo>
                    <a:pt x="0" y="48904"/>
                  </a:lnTo>
                  <a:cubicBezTo>
                    <a:pt x="0" y="21895"/>
                    <a:pt x="21895" y="0"/>
                    <a:pt x="48904" y="0"/>
                  </a:cubicBezTo>
                  <a:close/>
                </a:path>
              </a:pathLst>
            </a:custGeom>
            <a:solidFill>
              <a:srgbClr val="595B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26432" cy="853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20457" y="5596310"/>
            <a:ext cx="7867799" cy="3059828"/>
            <a:chOff x="0" y="0"/>
            <a:chExt cx="2072178" cy="8058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178" cy="805881"/>
            </a:xfrm>
            <a:custGeom>
              <a:avLst/>
              <a:gdLst/>
              <a:ahLst/>
              <a:cxnLst/>
              <a:rect r="r" b="b" t="t" l="l"/>
              <a:pathLst>
                <a:path h="805881" w="2072178">
                  <a:moveTo>
                    <a:pt x="50184" y="0"/>
                  </a:moveTo>
                  <a:lnTo>
                    <a:pt x="2021994" y="0"/>
                  </a:lnTo>
                  <a:cubicBezTo>
                    <a:pt x="2035303" y="0"/>
                    <a:pt x="2048068" y="5287"/>
                    <a:pt x="2057479" y="14699"/>
                  </a:cubicBezTo>
                  <a:cubicBezTo>
                    <a:pt x="2066890" y="24110"/>
                    <a:pt x="2072178" y="36874"/>
                    <a:pt x="2072178" y="50184"/>
                  </a:cubicBezTo>
                  <a:lnTo>
                    <a:pt x="2072178" y="755697"/>
                  </a:lnTo>
                  <a:cubicBezTo>
                    <a:pt x="2072178" y="769006"/>
                    <a:pt x="2066890" y="781771"/>
                    <a:pt x="2057479" y="791182"/>
                  </a:cubicBezTo>
                  <a:cubicBezTo>
                    <a:pt x="2048068" y="800593"/>
                    <a:pt x="2035303" y="805881"/>
                    <a:pt x="2021994" y="805881"/>
                  </a:cubicBezTo>
                  <a:lnTo>
                    <a:pt x="50184" y="805881"/>
                  </a:lnTo>
                  <a:cubicBezTo>
                    <a:pt x="22468" y="805881"/>
                    <a:pt x="0" y="783413"/>
                    <a:pt x="0" y="755697"/>
                  </a:cubicBezTo>
                  <a:lnTo>
                    <a:pt x="0" y="50184"/>
                  </a:lnTo>
                  <a:cubicBezTo>
                    <a:pt x="0" y="36874"/>
                    <a:pt x="5287" y="24110"/>
                    <a:pt x="14699" y="14699"/>
                  </a:cubicBezTo>
                  <a:cubicBezTo>
                    <a:pt x="24110" y="5287"/>
                    <a:pt x="36874" y="0"/>
                    <a:pt x="50184" y="0"/>
                  </a:cubicBezTo>
                  <a:close/>
                </a:path>
              </a:pathLst>
            </a:custGeom>
            <a:solidFill>
              <a:srgbClr val="DFB9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72178" cy="853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497136" y="849589"/>
            <a:ext cx="1141318" cy="1114526"/>
          </a:xfrm>
          <a:custGeom>
            <a:avLst/>
            <a:gdLst/>
            <a:ahLst/>
            <a:cxnLst/>
            <a:rect r="r" b="b" t="t" l="l"/>
            <a:pathLst>
              <a:path h="1114526" w="1141318">
                <a:moveTo>
                  <a:pt x="0" y="0"/>
                </a:moveTo>
                <a:lnTo>
                  <a:pt x="1141318" y="0"/>
                </a:lnTo>
                <a:lnTo>
                  <a:pt x="1141318" y="1114526"/>
                </a:lnTo>
                <a:lnTo>
                  <a:pt x="0" y="111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66003" y="8830302"/>
            <a:ext cx="2980354" cy="2910393"/>
          </a:xfrm>
          <a:custGeom>
            <a:avLst/>
            <a:gdLst/>
            <a:ahLst/>
            <a:cxnLst/>
            <a:rect r="r" b="b" t="t" l="l"/>
            <a:pathLst>
              <a:path h="2910393" w="2980354">
                <a:moveTo>
                  <a:pt x="0" y="0"/>
                </a:moveTo>
                <a:lnTo>
                  <a:pt x="2980354" y="0"/>
                </a:lnTo>
                <a:lnTo>
                  <a:pt x="2980354" y="2910393"/>
                </a:lnTo>
                <a:lnTo>
                  <a:pt x="0" y="2910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02689" y="-318213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20" y="0"/>
                </a:lnTo>
                <a:lnTo>
                  <a:pt x="854320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78851" y="6531491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19" y="0"/>
                </a:lnTo>
                <a:lnTo>
                  <a:pt x="854319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5777" r="-295051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611225" y="6659877"/>
            <a:ext cx="1208411" cy="2623231"/>
            <a:chOff x="0" y="0"/>
            <a:chExt cx="318265" cy="6908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8265" cy="690892"/>
            </a:xfrm>
            <a:custGeom>
              <a:avLst/>
              <a:gdLst/>
              <a:ahLst/>
              <a:cxnLst/>
              <a:rect r="r" b="b" t="t" l="l"/>
              <a:pathLst>
                <a:path h="690892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562758"/>
                  </a:lnTo>
                  <a:cubicBezTo>
                    <a:pt x="318265" y="596741"/>
                    <a:pt x="304765" y="629333"/>
                    <a:pt x="280735" y="653363"/>
                  </a:cubicBezTo>
                  <a:cubicBezTo>
                    <a:pt x="256705" y="677392"/>
                    <a:pt x="224114" y="690892"/>
                    <a:pt x="190131" y="690892"/>
                  </a:cubicBezTo>
                  <a:lnTo>
                    <a:pt x="128134" y="690892"/>
                  </a:lnTo>
                  <a:cubicBezTo>
                    <a:pt x="94151" y="690892"/>
                    <a:pt x="61559" y="677392"/>
                    <a:pt x="37530" y="653363"/>
                  </a:cubicBezTo>
                  <a:cubicBezTo>
                    <a:pt x="13500" y="629333"/>
                    <a:pt x="0" y="596741"/>
                    <a:pt x="0" y="562758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8265" cy="72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043909" y="2350462"/>
            <a:ext cx="929885" cy="929885"/>
          </a:xfrm>
          <a:custGeom>
            <a:avLst/>
            <a:gdLst/>
            <a:ahLst/>
            <a:cxnLst/>
            <a:rect r="r" b="b" t="t" l="l"/>
            <a:pathLst>
              <a:path h="929885" w="929885">
                <a:moveTo>
                  <a:pt x="0" y="0"/>
                </a:moveTo>
                <a:lnTo>
                  <a:pt x="929885" y="0"/>
                </a:lnTo>
                <a:lnTo>
                  <a:pt x="929885" y="929885"/>
                </a:lnTo>
                <a:lnTo>
                  <a:pt x="0" y="92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057648" y="5968375"/>
            <a:ext cx="633310" cy="796617"/>
          </a:xfrm>
          <a:custGeom>
            <a:avLst/>
            <a:gdLst/>
            <a:ahLst/>
            <a:cxnLst/>
            <a:rect r="r" b="b" t="t" l="l"/>
            <a:pathLst>
              <a:path h="796617" w="633310">
                <a:moveTo>
                  <a:pt x="0" y="0"/>
                </a:moveTo>
                <a:lnTo>
                  <a:pt x="633310" y="0"/>
                </a:lnTo>
                <a:lnTo>
                  <a:pt x="633310" y="796617"/>
                </a:lnTo>
                <a:lnTo>
                  <a:pt x="0" y="796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49660" y="1368752"/>
            <a:ext cx="4602518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95B7E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Project Links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43909" y="3581717"/>
            <a:ext cx="70459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https://github.com/Abdalla820/Online_Retail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1567" y="7339862"/>
            <a:ext cx="696557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https://www.kaggle.com/datasets/tunguz/online-retail-ii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8457" y="2588709"/>
            <a:ext cx="328767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Github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91420" y="6140022"/>
            <a:ext cx="282224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Kaggle Dataset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3241" y="1028700"/>
            <a:ext cx="1208411" cy="2623231"/>
            <a:chOff x="0" y="0"/>
            <a:chExt cx="318265" cy="690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265" cy="690892"/>
            </a:xfrm>
            <a:custGeom>
              <a:avLst/>
              <a:gdLst/>
              <a:ahLst/>
              <a:cxnLst/>
              <a:rect r="r" b="b" t="t" l="l"/>
              <a:pathLst>
                <a:path h="690892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562758"/>
                  </a:lnTo>
                  <a:cubicBezTo>
                    <a:pt x="318265" y="596741"/>
                    <a:pt x="304765" y="629333"/>
                    <a:pt x="280735" y="653363"/>
                  </a:cubicBezTo>
                  <a:cubicBezTo>
                    <a:pt x="256705" y="677392"/>
                    <a:pt x="224114" y="690892"/>
                    <a:pt x="190131" y="690892"/>
                  </a:cubicBezTo>
                  <a:lnTo>
                    <a:pt x="128134" y="690892"/>
                  </a:lnTo>
                  <a:cubicBezTo>
                    <a:pt x="94151" y="690892"/>
                    <a:pt x="61559" y="677392"/>
                    <a:pt x="37530" y="653363"/>
                  </a:cubicBezTo>
                  <a:cubicBezTo>
                    <a:pt x="13500" y="629333"/>
                    <a:pt x="0" y="596741"/>
                    <a:pt x="0" y="562758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265" cy="72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86059" y="6332439"/>
            <a:ext cx="277139" cy="321178"/>
          </a:xfrm>
          <a:custGeom>
            <a:avLst/>
            <a:gdLst/>
            <a:ahLst/>
            <a:cxnLst/>
            <a:rect r="r" b="b" t="t" l="l"/>
            <a:pathLst>
              <a:path h="321178" w="277139">
                <a:moveTo>
                  <a:pt x="0" y="0"/>
                </a:moveTo>
                <a:lnTo>
                  <a:pt x="277139" y="0"/>
                </a:lnTo>
                <a:lnTo>
                  <a:pt x="277139" y="321178"/>
                </a:lnTo>
                <a:lnTo>
                  <a:pt x="0" y="321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38526" y="5599776"/>
            <a:ext cx="324672" cy="314046"/>
          </a:xfrm>
          <a:custGeom>
            <a:avLst/>
            <a:gdLst/>
            <a:ahLst/>
            <a:cxnLst/>
            <a:rect r="r" b="b" t="t" l="l"/>
            <a:pathLst>
              <a:path h="314046" w="324672">
                <a:moveTo>
                  <a:pt x="0" y="0"/>
                </a:moveTo>
                <a:lnTo>
                  <a:pt x="324672" y="0"/>
                </a:lnTo>
                <a:lnTo>
                  <a:pt x="324672" y="314047"/>
                </a:lnTo>
                <a:lnTo>
                  <a:pt x="0" y="31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85423" y="8068092"/>
            <a:ext cx="5839137" cy="1617474"/>
            <a:chOff x="0" y="0"/>
            <a:chExt cx="1537880" cy="4260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7880" cy="426002"/>
            </a:xfrm>
            <a:custGeom>
              <a:avLst/>
              <a:gdLst/>
              <a:ahLst/>
              <a:cxnLst/>
              <a:rect r="r" b="b" t="t" l="l"/>
              <a:pathLst>
                <a:path h="426002" w="1537880">
                  <a:moveTo>
                    <a:pt x="26517" y="0"/>
                  </a:moveTo>
                  <a:lnTo>
                    <a:pt x="1511362" y="0"/>
                  </a:lnTo>
                  <a:cubicBezTo>
                    <a:pt x="1526008" y="0"/>
                    <a:pt x="1537880" y="11872"/>
                    <a:pt x="1537880" y="26517"/>
                  </a:cubicBezTo>
                  <a:lnTo>
                    <a:pt x="1537880" y="399484"/>
                  </a:lnTo>
                  <a:cubicBezTo>
                    <a:pt x="1537880" y="414129"/>
                    <a:pt x="1526008" y="426002"/>
                    <a:pt x="1511362" y="426002"/>
                  </a:cubicBezTo>
                  <a:lnTo>
                    <a:pt x="26517" y="426002"/>
                  </a:lnTo>
                  <a:cubicBezTo>
                    <a:pt x="11872" y="426002"/>
                    <a:pt x="0" y="414129"/>
                    <a:pt x="0" y="399484"/>
                  </a:cubicBezTo>
                  <a:lnTo>
                    <a:pt x="0" y="26517"/>
                  </a:lnTo>
                  <a:cubicBezTo>
                    <a:pt x="0" y="11872"/>
                    <a:pt x="11872" y="0"/>
                    <a:pt x="26517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37880" cy="464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9966" y="2340315"/>
            <a:ext cx="7166101" cy="6592813"/>
          </a:xfrm>
          <a:custGeom>
            <a:avLst/>
            <a:gdLst/>
            <a:ahLst/>
            <a:cxnLst/>
            <a:rect r="r" b="b" t="t" l="l"/>
            <a:pathLst>
              <a:path h="6592813" w="7166101">
                <a:moveTo>
                  <a:pt x="0" y="0"/>
                </a:moveTo>
                <a:lnTo>
                  <a:pt x="7166100" y="0"/>
                </a:lnTo>
                <a:lnTo>
                  <a:pt x="7166100" y="6592813"/>
                </a:lnTo>
                <a:lnTo>
                  <a:pt x="0" y="65928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77110" y="8422718"/>
            <a:ext cx="663954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7" tooltip="https://www.linkedin.com/in/abdalla-mohamed-farouk/"/>
              </a:rPr>
              <a:t>link</a:t>
            </a:r>
            <a:r>
              <a:rPr lang="en-US" b="true" sz="24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8" tooltip="https://www.linkedin.com/in/abdalla-mohamed-farouk/"/>
              </a:rPr>
              <a:t>edin.com/in/abdalla-mohamed-farouk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3608" y="2938132"/>
            <a:ext cx="5511122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b="true" sz="6800">
                <a:solidFill>
                  <a:srgbClr val="595B7E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Thank You</a:t>
            </a:r>
          </a:p>
          <a:p>
            <a:pPr algn="l">
              <a:lnSpc>
                <a:spcPts val="6800"/>
              </a:lnSpc>
            </a:pPr>
            <a:r>
              <a:rPr lang="en-US" b="true" sz="6800">
                <a:solidFill>
                  <a:srgbClr val="595B7E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So Much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22188" y="5517493"/>
            <a:ext cx="5759882" cy="39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sz="23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abdallamohamed8354@gmail.com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01407" y="6276569"/>
            <a:ext cx="2496651" cy="39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sz="23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+021205479856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8991555"/>
            <a:ext cx="2686024" cy="2622971"/>
          </a:xfrm>
          <a:custGeom>
            <a:avLst/>
            <a:gdLst/>
            <a:ahLst/>
            <a:cxnLst/>
            <a:rect r="r" b="b" t="t" l="l"/>
            <a:pathLst>
              <a:path h="2622971" w="2686024">
                <a:moveTo>
                  <a:pt x="0" y="0"/>
                </a:moveTo>
                <a:lnTo>
                  <a:pt x="2686024" y="0"/>
                </a:lnTo>
                <a:lnTo>
                  <a:pt x="2686024" y="2622971"/>
                </a:lnTo>
                <a:lnTo>
                  <a:pt x="0" y="2622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3559" y="664563"/>
            <a:ext cx="1107738" cy="1081735"/>
          </a:xfrm>
          <a:custGeom>
            <a:avLst/>
            <a:gdLst/>
            <a:ahLst/>
            <a:cxnLst/>
            <a:rect r="r" b="b" t="t" l="l"/>
            <a:pathLst>
              <a:path h="1081735" w="1107738">
                <a:moveTo>
                  <a:pt x="0" y="0"/>
                </a:moveTo>
                <a:lnTo>
                  <a:pt x="1107738" y="0"/>
                </a:lnTo>
                <a:lnTo>
                  <a:pt x="1107738" y="1081735"/>
                </a:lnTo>
                <a:lnTo>
                  <a:pt x="0" y="10817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6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441648" y="7732897"/>
            <a:ext cx="1385292" cy="1388011"/>
          </a:xfrm>
          <a:custGeom>
            <a:avLst/>
            <a:gdLst/>
            <a:ahLst/>
            <a:cxnLst/>
            <a:rect r="r" b="b" t="t" l="l"/>
            <a:pathLst>
              <a:path h="1388011" w="1385292">
                <a:moveTo>
                  <a:pt x="0" y="0"/>
                </a:moveTo>
                <a:lnTo>
                  <a:pt x="1385292" y="0"/>
                </a:lnTo>
                <a:lnTo>
                  <a:pt x="1385292" y="1388011"/>
                </a:lnTo>
                <a:lnTo>
                  <a:pt x="0" y="13880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992211" y="1568043"/>
            <a:ext cx="770760" cy="772272"/>
          </a:xfrm>
          <a:custGeom>
            <a:avLst/>
            <a:gdLst/>
            <a:ahLst/>
            <a:cxnLst/>
            <a:rect r="r" b="b" t="t" l="l"/>
            <a:pathLst>
              <a:path h="772272" w="770760">
                <a:moveTo>
                  <a:pt x="0" y="0"/>
                </a:moveTo>
                <a:lnTo>
                  <a:pt x="770760" y="0"/>
                </a:lnTo>
                <a:lnTo>
                  <a:pt x="770760" y="772272"/>
                </a:lnTo>
                <a:lnTo>
                  <a:pt x="0" y="7722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15777" r="-29505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DAHXi9LowaQ</dc:identifier>
  <dcterms:modified xsi:type="dcterms:W3CDTF">2011-08-01T06:04:30Z</dcterms:modified>
  <cp:revision>1</cp:revision>
  <dc:title>Online_Retail</dc:title>
</cp:coreProperties>
</file>